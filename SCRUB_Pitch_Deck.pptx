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 %</c:v>
                </c:pt>
              </c:strCache>
            </c:strRef>
          </c:tx>
          <c:spPr>
            <a:solidFill>
              <a:srgbClr val="1B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4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E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9D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AE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1BED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E8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D5B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Fabrication</c:v>
                  </c:pt>
                  <c:pt idx="1">
                    <c:v>Dual-Mode Control</c:v>
                  </c:pt>
                  <c:pt idx="2">
                    <c:v>Sensor Stack</c:v>
                  </c:pt>
                  <c:pt idx="3">
                    <c:v>AI Vision</c:v>
                  </c:pt>
                  <c:pt idx="4">
                    <c:v>Field Trials</c:v>
                  </c:pt>
                  <c:pt idx="5">
                    <c:v>Scale-Up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95</c:v>
                </c:pt>
                <c:pt idx="3">
                  <c:v>90</c:v>
                </c:pt>
                <c:pt idx="4">
                  <c:v>35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4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C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9A8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80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EF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6E7A">
              <a:alpha val="12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457200"/>
            <a:ext cx="4572000" cy="2286000"/>
          </a:xfrm>
          <a:prstGeom prst="oval">
            <a:avLst/>
          </a:prstGeom>
          <a:solidFill>
            <a:srgbClr val="C5E8ED">
              <a:alpha val="10000"/>
            </a:srgbClr>
          </a:solidFill>
          <a:ln w="12700">
            <a:solidFill>
              <a:srgbClr val="C5E8ED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640080"/>
            <a:ext cx="3657600" cy="1828800"/>
          </a:xfrm>
          <a:prstGeom prst="oval">
            <a:avLst/>
          </a:prstGeom>
          <a:solidFill>
            <a:srgbClr val="C5E8ED">
              <a:alpha val="8000"/>
            </a:srgbClr>
          </a:solidFill>
          <a:ln w="12700">
            <a:solidFill>
              <a:srgbClr val="C5E8ED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822960"/>
            <a:ext cx="2743200" cy="1371600"/>
          </a:xfrm>
          <a:prstGeom prst="oval">
            <a:avLst/>
          </a:prstGeom>
          <a:solidFill>
            <a:srgbClr val="C5E8ED">
              <a:alpha val="6000"/>
            </a:srgbClr>
          </a:solidFill>
          <a:ln w="12700">
            <a:solidFill>
              <a:srgbClr val="C5E8ED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1005840"/>
            <a:ext cx="1828800" cy="914400"/>
          </a:xfrm>
          <a:prstGeom prst="oval">
            <a:avLst/>
          </a:prstGeom>
          <a:solidFill>
            <a:srgbClr val="C5E8ED">
              <a:alpha val="4000"/>
            </a:srgbClr>
          </a:solidFill>
          <a:ln w="12700">
            <a:solidFill>
              <a:srgbClr val="C5E8ED">
                <a:alpha val="1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0"/>
            <a:ext cx="1097280" cy="514350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84048"/>
            <a:ext cx="475488" cy="475488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84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24128" y="438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AASK TECHNOLOGIES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00584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SCRUB</a:t>
            </a:r>
            <a:endParaRPr lang="en-US" sz="88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633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5E8E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Surface Cleaning Robot for Urban Bodies of Water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3218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Patent-Filed · Made in India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1371600" cy="347472"/>
          </a:xfrm>
          <a:prstGeom prst="rect">
            <a:avLst>
              <a:gd name="adj" fmla="val 15789"/>
            </a:avLst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TRL-4 PROTOTYPE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920240" y="3749040"/>
            <a:ext cx="137160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20240" y="3749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PUBLISHED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College of Engineering, Bengaluru  ·  aask.helpdesk@gmail.com  ·  +91 7007633541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0"/>
            <a:ext cx="411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9080" y="457200"/>
            <a:ext cx="32004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914400"/>
            <a:ext cx="36576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1371600"/>
            <a:ext cx="27432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04488" y="1828800"/>
            <a:ext cx="38404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0792" y="2286000"/>
            <a:ext cx="329184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59352" y="27432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87368" y="3200400"/>
            <a:ext cx="29260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3657600"/>
            <a:ext cx="41148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41148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40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 rot="-60000">
            <a:off x="548640" y="2487168"/>
            <a:ext cx="2560320" cy="402336"/>
          </a:xfrm>
          <a:prstGeom prst="rect">
            <a:avLst/>
          </a:prstGeom>
          <a:solidFill>
            <a:srgbClr val="E8D5B5">
              <a:alpha val="80000"/>
            </a:srgbClr>
          </a:solidFill>
          <a:ln w="12700">
            <a:solidFill>
              <a:srgbClr val="A0806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60000">
            <a:off x="640080" y="25237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0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India's lakes are dying.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C40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 need to act now.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84048"/>
            <a:ext cx="54864" cy="1261872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40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658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Disappearing Lakes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100584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Bengaluru had 937 lakes in 1937 — fewer than 81 survive today. Over 80% lost in 50 years.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1865376"/>
            <a:ext cx="54864" cy="1261872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8653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13969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Plastic Pollution Crisis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248716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India contributes 13% of global ocean-bound plastic. Urban lakes are the first casualty.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3346704"/>
            <a:ext cx="54864" cy="1261872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3467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6210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Inadequate Solutions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396849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Manual cleanup is slow, dangerous, and unscalable. Imported robots cost 10–20× more than viable.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0"/>
            <a:ext cx="411480" cy="64008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548640"/>
            <a:ext cx="502920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097280"/>
            <a:ext cx="384048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26280" y="1645920"/>
            <a:ext cx="457200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2194560"/>
            <a:ext cx="402336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743200"/>
            <a:ext cx="475488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291840"/>
            <a:ext cx="365760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840480"/>
            <a:ext cx="438912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4389120"/>
            <a:ext cx="402336" cy="73152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Solution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 rot="2700000">
            <a:off x="365760" y="1481328"/>
            <a:ext cx="91440" cy="91440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44475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SCRUB is an autonomous surface-cleaning robot engineered specifically for India's shallow urban lakes.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2700000">
            <a:off x="365760" y="2304288"/>
            <a:ext cx="91440" cy="91440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6771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 collects 20 kg of floating plastic per cycle, monitors water quality in real-time, and operates without human intervention.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 rot="2700000">
            <a:off x="365760" y="3127248"/>
            <a:ext cx="91440" cy="91440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90672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 ₹1.5 Lakhs per unit at scale, SCRUB is 10× cheaper than any imported alternative.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365760"/>
            <a:ext cx="3749040" cy="2926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29200" y="365760"/>
            <a:ext cx="3749040" cy="2926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0" y="2926080"/>
            <a:ext cx="3749040" cy="658368"/>
          </a:xfrm>
          <a:prstGeom prst="rect">
            <a:avLst/>
          </a:prstGeom>
          <a:solidFill>
            <a:srgbClr val="0F4D55">
              <a:alpha val="85000"/>
            </a:srgbClr>
          </a:solidFill>
          <a:ln w="12700">
            <a:solidFill>
              <a:srgbClr val="0F4D55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29626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v0.6 — Pool Testing, RVCE Bengaluru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74920" y="3236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active development · Patent Published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0" y="3767328"/>
            <a:ext cx="868680" cy="914400"/>
          </a:xfrm>
          <a:prstGeom prst="rect">
            <a:avLst/>
          </a:prstGeom>
          <a:solidFill>
            <a:srgbClr val="0F4D55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380390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20kg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029200" y="4251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43600" y="3767328"/>
            <a:ext cx="868680" cy="914400"/>
          </a:xfrm>
          <a:prstGeom prst="rect">
            <a:avLst/>
          </a:prstGeom>
          <a:solidFill>
            <a:srgbClr val="0F4D55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380390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943600" y="4251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858000" y="3767328"/>
            <a:ext cx="868680" cy="914400"/>
          </a:xfrm>
          <a:prstGeom prst="rect">
            <a:avLst/>
          </a:prstGeom>
          <a:solidFill>
            <a:srgbClr val="0F4D55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380390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3.5h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858000" y="4251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772400" y="3767328"/>
            <a:ext cx="868680" cy="914400"/>
          </a:xfrm>
          <a:prstGeom prst="rect">
            <a:avLst/>
          </a:prstGeom>
          <a:solidFill>
            <a:srgbClr val="0F4D55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72400" y="3803904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TRL-4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772400" y="4251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 — PRODUCT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4389120" cy="3291840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877824"/>
            <a:ext cx="73152" cy="73152"/>
          </a:xfrm>
          <a:prstGeom prst="oval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27632" y="877824"/>
            <a:ext cx="548640" cy="36576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975104"/>
            <a:ext cx="73152" cy="73152"/>
          </a:xfrm>
          <a:prstGeom prst="oval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975104"/>
            <a:ext cx="548640" cy="36576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2340864"/>
            <a:ext cx="73152" cy="73152"/>
          </a:xfrm>
          <a:prstGeom prst="oval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3552" y="2340864"/>
            <a:ext cx="548640" cy="36576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3621024"/>
            <a:ext cx="73152" cy="73152"/>
          </a:xfrm>
          <a:prstGeom prst="oval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3621024"/>
            <a:ext cx="548640" cy="36576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640080"/>
            <a:ext cx="3977640" cy="475488"/>
          </a:xfrm>
          <a:prstGeom prst="rect">
            <a:avLst/>
          </a:prstGeom>
          <a:solidFill>
            <a:srgbClr val="C5E8ED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685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0" y="67665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1.0m × 0.65m × 0.4m · 25 kg dry · 75 kg operational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170432"/>
            <a:ext cx="3977640" cy="475488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216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0" y="12070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BLDC motors · 12W each · 0.7 m/s max · Differential thrust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700784"/>
            <a:ext cx="3977640" cy="475488"/>
          </a:xfrm>
          <a:prstGeom prst="rect">
            <a:avLst/>
          </a:prstGeom>
          <a:solidFill>
            <a:srgbClr val="C5E8ED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7465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0" y="17373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48V LiFePO₄ · 20Ah · 25W solar panel · 3–4h runtime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231136"/>
            <a:ext cx="3977640" cy="475488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768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26771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on Raspberry Pi 5 · 5MP camera · 90% accuracy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761488"/>
            <a:ext cx="3977640" cy="475488"/>
          </a:xfrm>
          <a:prstGeom prst="rect">
            <a:avLst/>
          </a:prstGeom>
          <a:solidFill>
            <a:srgbClr val="C5E8ED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807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279806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· Turbidity · Dissolved O₂ · TDS · Temperature · GPS (NEO-M8N)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291840"/>
            <a:ext cx="3977640" cy="475488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3375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0" y="332841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LTE · WiFi · Live cloud dashboard · MQTT telemetry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822192"/>
            <a:ext cx="3977640" cy="475488"/>
          </a:xfrm>
          <a:prstGeom prst="rect">
            <a:avLst/>
          </a:prstGeom>
          <a:solidFill>
            <a:srgbClr val="C5E8ED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8679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0" y="385876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20kg/cycle · SS316L 2mm mesh · 14° incline · Liner sheet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352544"/>
            <a:ext cx="3977640" cy="475488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3982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943600" y="43891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GPS path + Manual RC · STM32 real-time MCU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MECHANICAL DEVELOPMENT STATUS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347472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16352" y="658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658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Description/Solution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F5EFE6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515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Tensioner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16352" y="1161288"/>
            <a:ext cx="1051560" cy="329184"/>
          </a:xfrm>
          <a:prstGeom prst="rect">
            <a:avLst>
              <a:gd name="adj" fmla="val 2222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16128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77640" y="108813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3D-print/metal hybrid clamp. M-series threaded rod for fine tensioning. All hardware procured.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8595360" cy="594360"/>
          </a:xfrm>
          <a:prstGeom prst="rect">
            <a:avLst/>
          </a:prstGeom>
          <a:solidFill>
            <a:srgbClr val="E8D5B5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Anti-Slip Disks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1801368"/>
            <a:ext cx="1051560" cy="329184"/>
          </a:xfrm>
          <a:prstGeom prst="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180136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TEST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77640" y="172821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Press-fitted flanged disk guides on front lateral member to eliminate mesh side-drift.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8595360" cy="594360"/>
          </a:xfrm>
          <a:prstGeom prst="rect">
            <a:avLst/>
          </a:prstGeom>
          <a:solidFill>
            <a:srgbClr val="F5EFE6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317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Containment Panels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16352" y="2441448"/>
            <a:ext cx="1051560" cy="329184"/>
          </a:xfrm>
          <a:prstGeom prst="rect">
            <a:avLst>
              <a:gd name="adj" fmla="val 22222"/>
            </a:avLst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44144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77640" y="236829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2mm fibreglass triangular panels replacing cardboard to prevent waste spill-off sides.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8595360" cy="594360"/>
          </a:xfrm>
          <a:prstGeom prst="rect">
            <a:avLst/>
          </a:prstGeom>
          <a:solidFill>
            <a:srgbClr val="E8D5B5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718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Liner Sheet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16352" y="3081528"/>
            <a:ext cx="1051560" cy="329184"/>
          </a:xfrm>
          <a:prstGeom prst="rect">
            <a:avLst>
              <a:gd name="adj" fmla="val 22222"/>
            </a:avLst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08152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77640" y="300837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backing sheet between mesh runs — retains algae/moss that drain through perforations.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F5EFE6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611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Roller Grip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16352" y="3721608"/>
            <a:ext cx="1051560" cy="329184"/>
          </a:xfrm>
          <a:prstGeom prst="rect">
            <a:avLst>
              <a:gd name="adj" fmla="val 22222"/>
            </a:avLst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372160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77640" y="364845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EVA/NBR foam wrap on drive roller for traction on stainless mesh under wet load.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8D5B5">
              <a:alpha val="8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2519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Replacement + Guard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16352" y="4361688"/>
            <a:ext cx="1051560" cy="329184"/>
          </a:xfrm>
          <a:prstGeom prst="rect">
            <a:avLst>
              <a:gd name="adj" fmla="val 22222"/>
            </a:avLst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4361688"/>
            <a:ext cx="105156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PRE-DEMO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77640" y="428853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propellers with screw-mounting + 3D-printed debris shroud to prevent weed jamming.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C9A87A"/>
          </a:solidFill>
          <a:ln w="12700">
            <a:solidFill>
              <a:srgbClr val="C9A8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411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457200"/>
            <a:ext cx="32004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914400"/>
            <a:ext cx="36576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371600"/>
            <a:ext cx="27432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1828800"/>
            <a:ext cx="38404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286000"/>
            <a:ext cx="329184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27432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3200400"/>
            <a:ext cx="29260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3657600"/>
            <a:ext cx="41148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1148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029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65760" y="21488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From a polluted lake observation at RVCE campus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5C4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 a patent-filed autonomous robot in 18 months.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36592" y="38404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5172" y="548640"/>
            <a:ext cx="9144" cy="502920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291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3291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Identified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5852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Kengeri Lake near RVCE — Animesh Sapra observes severe plastic accumulation. Team forms around the idea.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36592" y="116128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5172" y="1325880"/>
            <a:ext cx="9144" cy="502920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1064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11064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Prototype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136245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 v0.1 built with PVC frame, tyre float, manual RC control. Concept proven. AASK Technologies founded.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193852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5172" y="2103120"/>
            <a:ext cx="9144" cy="502920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883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18836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Patent Filed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13969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patent filed (Sep 2024) — covers vision pipeline, autonomous navigation, IoT integration.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271576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5172" y="2880360"/>
            <a:ext cx="9144" cy="502920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609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6609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Conveyor Mechanism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91693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SS316L mesh conveyor belt mechanism designed and fabricated. 20kg/cycle throughput validated.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49300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5172" y="3657600"/>
            <a:ext cx="9144" cy="502920"/>
          </a:xfrm>
          <a:prstGeom prst="rect">
            <a:avLst/>
          </a:prstGeom>
          <a:solidFill>
            <a:srgbClr val="1B6E7A">
              <a:alpha val="4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4381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34381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v0.6 Prototype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69417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sensor suite, Raspberry Pi 5, AI debris detection, 4G IoT dashboard. TRL-4 validated in pool testing.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4270248"/>
            <a:ext cx="164592" cy="164592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2153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26480" y="4215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Trials Begin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44714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Kengeri Lake trial underway in coordination with BBMP. Mechanical upgrades in progress.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20624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Municipal Bodies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BBMP, KSPCB, NMCG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bodies mandated to maintain 10,000+ urban lakes across India. Annual lake maintenance budgets of ₹200–500 Cr per state.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840480" cy="292608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 Cr TAM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731520"/>
            <a:ext cx="420624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NGOs &amp; Foundations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1170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UWBe, Earth5R, CSR arms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148132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CSR-funded lake restoration programmes from Infosys, Wipro, Bosch, Alstom. ₹100+ Cr/year flows into Bengaluru lake restoration alone.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0280"/>
            <a:ext cx="3840480" cy="292608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240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₹120 Cr SAM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51560" y="2926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Estates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treatment lakes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5844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estates with effluent treatment ponds, private water bodies, and resort/hospitality lakes requiring regular surface cleaning.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0" cy="292608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Cr SAM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4206240" cy="19202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623560" y="2926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Export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2356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· Middle East · Africa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35844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severe urban water pollution problems and no indigenous autonomous solution. Clearbot validated the market — SCRUB enters at 40% lower cost.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343400"/>
            <a:ext cx="3840480" cy="292608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 Global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41648" y="0"/>
            <a:ext cx="411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4528" y="457200"/>
            <a:ext cx="32004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87368" y="914400"/>
            <a:ext cx="36576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70248" y="1371600"/>
            <a:ext cx="27432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1828800"/>
            <a:ext cx="38404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286000"/>
            <a:ext cx="329184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7432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2816" y="3200400"/>
            <a:ext cx="29260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41648" y="3657600"/>
            <a:ext cx="41148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41148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502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 rot="-60000">
            <a:off x="457200" y="2670048"/>
            <a:ext cx="3291840" cy="420624"/>
          </a:xfrm>
          <a:prstGeom prst="rect">
            <a:avLst/>
          </a:prstGeom>
          <a:solidFill>
            <a:srgbClr val="E8D5B5">
              <a:alpha val="80000"/>
            </a:srgbClr>
          </a:solidFill>
          <a:ln w="12700">
            <a:solidFill>
              <a:srgbClr val="A0806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60000">
            <a:off x="502920" y="2697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40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Water robot market growing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C40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 15% CAGR to 2033.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407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2024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 Surface Cleaning Robots Global Market)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256032"/>
            <a:ext cx="2834640" cy="2834640"/>
          </a:xfrm>
          <a:prstGeom prst="oval">
            <a:avLst/>
          </a:prstGeom>
          <a:solidFill>
            <a:srgbClr val="0F4D55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964692"/>
            <a:ext cx="2834640" cy="992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₹4,100 Cr</a:t>
            </a:r>
            <a:endParaRPr lang="en-US" sz="2170" dirty="0"/>
          </a:p>
        </p:txBody>
      </p:sp>
      <p:sp>
        <p:nvSpPr>
          <p:cNvPr id="20" name="Text 18"/>
          <p:cNvSpPr/>
          <p:nvPr/>
        </p:nvSpPr>
        <p:spPr>
          <a:xfrm>
            <a:off x="4617720" y="1956816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Water Robot Market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1444752"/>
            <a:ext cx="2286000" cy="2286000"/>
          </a:xfrm>
          <a:prstGeom prst="oval">
            <a:avLst/>
          </a:prstGeom>
          <a:solidFill>
            <a:srgbClr val="1B6E7A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016252"/>
            <a:ext cx="2286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₹980 Cr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852160" y="281635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Urban Lake Cleaning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29400" y="2468880"/>
            <a:ext cx="1828800" cy="1828800"/>
          </a:xfrm>
          <a:prstGeom prst="oval">
            <a:avLst/>
          </a:prstGeom>
          <a:solidFill>
            <a:srgbClr val="A08060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₹120 Cr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3566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+ 5 Cities Y3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931920" cy="768096"/>
          </a:xfrm>
          <a:prstGeom prst="rect">
            <a:avLst/>
          </a:prstGeom>
          <a:solidFill>
            <a:srgbClr val="C5E8ED">
              <a:alpha val="60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64008" cy="7680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Sales / Lease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490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₹1.5–3L/unit · Municipal procurement, NGO partnerships, private estates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3931920" cy="768096"/>
          </a:xfrm>
          <a:prstGeom prst="rect">
            <a:avLst/>
          </a:prstGeom>
          <a:solidFill>
            <a:srgbClr val="C5E8ED">
              <a:alpha val="60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64008" cy="7680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57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2359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₹5K–15K/month · Real-time water quality dashboard for KSPCB/NGOs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3931920" cy="768096"/>
          </a:xfrm>
          <a:prstGeom prst="rect">
            <a:avLst/>
          </a:prstGeom>
          <a:solidFill>
            <a:srgbClr val="C5E8ED">
              <a:alpha val="60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80360"/>
            <a:ext cx="64008" cy="7680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26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SLA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₹20–40K/year · Annual service contract per deployed unit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49040"/>
            <a:ext cx="3931920" cy="768096"/>
          </a:xfrm>
          <a:prstGeom prst="rect">
            <a:avLst/>
          </a:prstGeom>
          <a:solidFill>
            <a:srgbClr val="C5E8ED">
              <a:alpha val="60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64008" cy="7680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/ Grant Projects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096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deployment funded by Infosys, Wipro, Bosch CSR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621792"/>
            <a:ext cx="4343400" cy="4206240"/>
          </a:xfrm>
          <a:prstGeom prst="rect">
            <a:avLst/>
          </a:prstGeom>
          <a:solidFill>
            <a:srgbClr val="D4B896">
              <a:alpha val="6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731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Economics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1207008"/>
            <a:ext cx="397764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207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Unit Cost (50+ scale)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0" y="120700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719072"/>
            <a:ext cx="3977640" cy="457200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7190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 Cost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171907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₹3,36,400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231136"/>
            <a:ext cx="397764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231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Price (Monthly)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223113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₹15,000–25,000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743200"/>
            <a:ext cx="3977640" cy="457200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(lease)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27432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months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255264"/>
            <a:ext cx="397764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2552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Waste Diverted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98080" y="325526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600–1,200 kg / unit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767328"/>
            <a:ext cx="3977640" cy="457200"/>
          </a:xfrm>
          <a:prstGeom prst="rect">
            <a:avLst/>
          </a:prstGeom>
          <a:solidFill>
            <a:srgbClr val="E8D5B5">
              <a:alpha val="70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(10-unit fleet)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498080" y="37673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tonnes / year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384048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658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51960" y="658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Clearbot (HK)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6583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WasteShark (NL)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69480" y="6583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8595360" cy="438912"/>
          </a:xfrm>
          <a:prstGeom prst="rect">
            <a:avLst/>
          </a:prstGeom>
          <a:solidFill>
            <a:srgbClr val="F5EFE6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097280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097280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(India)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1097280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(scale)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51960" y="1097280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₹15–25L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1097280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₹20–35L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69480" y="1097280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₹2–5L/month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8595360" cy="438912"/>
          </a:xfrm>
          <a:prstGeom prst="rect">
            <a:avLst/>
          </a:prstGeom>
          <a:solidFill>
            <a:srgbClr val="E8D5B5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1572768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572768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Indian Lakes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1572768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1572768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Rivers/coasts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572768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Large water bodies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1572768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048256"/>
            <a:ext cx="8595360" cy="438912"/>
          </a:xfrm>
          <a:prstGeom prst="rect">
            <a:avLst/>
          </a:prstGeom>
          <a:solidFill>
            <a:srgbClr val="F5EFE6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2048256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048256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34640" y="2048256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GPS +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2048256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Semi-auto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2048256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69480" y="2048256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Human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523744"/>
            <a:ext cx="8595360" cy="438912"/>
          </a:xfrm>
          <a:prstGeom prst="rect">
            <a:avLst/>
          </a:prstGeom>
          <a:solidFill>
            <a:srgbClr val="E8D5B5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2523744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23744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Sensors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34640" y="2523744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suite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51960" y="2523744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2523744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2523744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999232"/>
            <a:ext cx="8595360" cy="438912"/>
          </a:xfrm>
          <a:prstGeom prst="rect">
            <a:avLst/>
          </a:prstGeom>
          <a:solidFill>
            <a:srgbClr val="F5EFE6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2999232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999232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Debris Detection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34640" y="2999232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YOLOv8 90%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51960" y="2999232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69280" y="2999232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69480" y="2999232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474720"/>
            <a:ext cx="8595360" cy="438912"/>
          </a:xfrm>
          <a:prstGeom prst="rect">
            <a:avLst/>
          </a:prstGeom>
          <a:solidFill>
            <a:srgbClr val="E8D5B5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3474720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474720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Filed in India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834640" y="3474720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51960" y="3474720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0" y="3474720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69480" y="3474720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950208"/>
            <a:ext cx="8595360" cy="438912"/>
          </a:xfrm>
          <a:prstGeom prst="rect">
            <a:avLst/>
          </a:prstGeom>
          <a:solidFill>
            <a:srgbClr val="F5EFE6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4640" y="3950208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950208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Manufacturing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834640" y="3950208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India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51960" y="3950208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Import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69280" y="3950208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Import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69480" y="3950208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4425696"/>
            <a:ext cx="8595360" cy="438912"/>
          </a:xfrm>
          <a:prstGeom prst="rect">
            <a:avLst/>
          </a:prstGeom>
          <a:solidFill>
            <a:srgbClr val="E8D5B5">
              <a:alpha val="75000"/>
            </a:srgbClr>
          </a:solidFill>
          <a:ln w="12700">
            <a:solidFill>
              <a:srgbClr val="1B6E7A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4425696"/>
            <a:ext cx="1371600" cy="438912"/>
          </a:xfrm>
          <a:prstGeom prst="rect">
            <a:avLst/>
          </a:prstGeom>
          <a:solidFill>
            <a:srgbClr val="C5E8ED">
              <a:alpha val="75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425696"/>
            <a:ext cx="24688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Lake (≤1m depth)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834640" y="4425696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Optimised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51960" y="4425696"/>
            <a:ext cx="137160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69280" y="4425696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269480" y="4425696"/>
            <a:ext cx="1554480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834640" y="658368"/>
            <a:ext cx="1371600" cy="384048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0" y="6583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411480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457200"/>
            <a:ext cx="32004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914400"/>
            <a:ext cx="36576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34840" y="1371600"/>
            <a:ext cx="27432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24528" y="1828800"/>
            <a:ext cx="38404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2286000"/>
            <a:ext cx="329184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27432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3200400"/>
            <a:ext cx="292608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3657600"/>
            <a:ext cx="41148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114800"/>
            <a:ext cx="347472" cy="54864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57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65760" y="15544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20+hrs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test runtime accumulated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359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27797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debris detection 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16382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TRL-4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684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4389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patents (1 filed + 1 in dev)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4572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Milestones</a:t>
            </a:r>
            <a:endParaRPr lang="en-US" sz="17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480560" y="868680"/>
          <a:ext cx="4297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1B6E7A">
              <a:alpha val="20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663440"/>
            <a:ext cx="9144000" cy="331470"/>
          </a:xfrm>
          <a:prstGeom prst="rect">
            <a:avLst/>
          </a:prstGeom>
          <a:solidFill>
            <a:srgbClr val="0F4D55">
              <a:alpha val="15000"/>
            </a:srgbClr>
          </a:solidFill>
          <a:ln w="12700">
            <a:solidFill>
              <a:srgbClr val="0F4D55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965960" cy="356616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896112"/>
            <a:ext cx="1115568" cy="1115568"/>
          </a:xfrm>
          <a:prstGeom prst="oval">
            <a:avLst/>
          </a:prstGeom>
          <a:solidFill>
            <a:srgbClr val="C5E8ED">
              <a:alpha val="90000"/>
            </a:srgbClr>
          </a:solidFill>
          <a:ln w="12700">
            <a:solidFill>
              <a:srgbClr val="1B6E7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896112"/>
            <a:ext cx="11155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8912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Krishna Purwar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&amp; Mech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Engg, RVCE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3072384"/>
            <a:ext cx="1828800" cy="347472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Lead · CAD · Fabrication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786384"/>
            <a:ext cx="1965960" cy="356616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44368" y="896112"/>
            <a:ext cx="1115568" cy="1115568"/>
          </a:xfrm>
          <a:prstGeom prst="oval">
            <a:avLst/>
          </a:prstGeom>
          <a:solidFill>
            <a:srgbClr val="C5E8ED">
              <a:alpha val="90000"/>
            </a:srgbClr>
          </a:solidFill>
          <a:ln w="12700">
            <a:solidFill>
              <a:srgbClr val="1B6E7A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896112"/>
            <a:ext cx="11155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87752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Animesh Sapra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87752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AI/ML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RVCE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87752" y="3072384"/>
            <a:ext cx="1828800" cy="347472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· Navigation · Dashboard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786384"/>
            <a:ext cx="1965960" cy="356616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896112"/>
            <a:ext cx="1115568" cy="1115568"/>
          </a:xfrm>
          <a:prstGeom prst="oval">
            <a:avLst/>
          </a:prstGeom>
          <a:solidFill>
            <a:srgbClr val="C5E8ED">
              <a:alpha val="90000"/>
            </a:srgbClr>
          </a:solidFill>
          <a:ln w="12700">
            <a:solidFill>
              <a:srgbClr val="1B6E7A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896112"/>
            <a:ext cx="11155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36592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Atharva Agrawal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36592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IoT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36592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ECE, RVCE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6592" y="3072384"/>
            <a:ext cx="1828800" cy="347472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 · Embedded · Sensors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12280" y="786384"/>
            <a:ext cx="1965960" cy="356616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1B6E7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42048" y="896112"/>
            <a:ext cx="1115568" cy="1115568"/>
          </a:xfrm>
          <a:prstGeom prst="oval">
            <a:avLst/>
          </a:prstGeom>
          <a:solidFill>
            <a:srgbClr val="C5E8ED">
              <a:alpha val="90000"/>
            </a:srgbClr>
          </a:solidFill>
          <a:ln w="12700">
            <a:solidFill>
              <a:srgbClr val="1B6E7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896112"/>
            <a:ext cx="11155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4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885432" y="20848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40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Siddhant Singh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85432" y="24688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Strategy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85432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85432" y="3072384"/>
            <a:ext cx="1828800" cy="347472"/>
          </a:xfrm>
          <a:prstGeom prst="rect">
            <a:avLst/>
          </a:prstGeom>
          <a:solidFill>
            <a:srgbClr val="1B6E7A">
              <a:alpha val="18000"/>
            </a:srgbClr>
          </a:solidFill>
          <a:ln w="12700">
            <a:solidFill>
              <a:srgbClr val="1B6E7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Integration · BD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4622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4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Mentors &amp; Advisors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Shanta Rangaswami (HOD, CSE — RVCE)  ·  Dr. K. Badari Nath (Mech — RVCE)  ·  Nagabhushan Sir (Domain Expert)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6E7A">
              <a:alpha val="12000"/>
            </a:srgbClr>
          </a:solidFill>
          <a:ln w="12700">
            <a:solidFill>
              <a:srgbClr val="1B6E7A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F4D55">
              <a:alpha val="65000"/>
            </a:srgbClr>
          </a:solidFill>
          <a:ln w="12700">
            <a:solidFill>
              <a:srgbClr val="0F4D55">
                <a:alpha val="6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0"/>
            <a:ext cx="731520" cy="5143500"/>
          </a:xfrm>
          <a:prstGeom prst="rect">
            <a:avLst/>
          </a:prstGeom>
          <a:solidFill>
            <a:srgbClr val="0F4D55"/>
          </a:solidFill>
          <a:ln w="12700">
            <a:solidFill>
              <a:srgbClr val="0F4D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65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194560" cy="27432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3716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E8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₹3,36,400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 complete Prototype 3 — industrial-grade field-deployable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 for commercial demonstration at Kengeri Lake.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633472"/>
            <a:ext cx="73152" cy="3108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633472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0" y="2633472"/>
            <a:ext cx="2560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GRP/Carbon-Kevlar hull — 3D Printzkart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054096"/>
            <a:ext cx="73152" cy="3108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3054096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₹43,500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0" y="3054096"/>
            <a:ext cx="2560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v3 fabrication &amp; assembly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474720"/>
            <a:ext cx="73152" cy="3108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474720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₹39,400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45920" y="3474720"/>
            <a:ext cx="2560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motors, sensors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3895344"/>
            <a:ext cx="73152" cy="310896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895344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₹53,500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645920" y="3895344"/>
            <a:ext cx="2560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trials, waterproofing, logistics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0" y="4315968"/>
            <a:ext cx="4572000" cy="827532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kpurwar1234@gmail.com  </a:t>
            </a:r>
            <a:pPr indent="0" marL="0">
              <a:buNone/>
            </a:pPr>
            <a:r>
              <a:rPr lang="en-US" sz="10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Phone: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+91 7007633541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4626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aask-kappa.vercel.app  </a:t>
            </a:r>
            <a:pPr indent="0" marL="0">
              <a:buNone/>
            </a:pPr>
            <a:r>
              <a:rPr lang="en-US" sz="1000" b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IG: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@aask.tech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8920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5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RVCE Bengaluru · AASK Technologies ·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37760" y="12801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lakes.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future.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SCRUB.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5669280" y="3337560"/>
            <a:ext cx="2194560" cy="475488"/>
          </a:xfrm>
          <a:prstGeom prst="rect">
            <a:avLst/>
          </a:prstGeom>
          <a:solidFill>
            <a:srgbClr val="1B6E7A"/>
          </a:solidFill>
          <a:ln w="12700">
            <a:solidFill>
              <a:srgbClr val="1B6E7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33375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Today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SCRUB — Autonomous Lake Cleaning Robot</dc:title>
  <dc:subject>PptxGenJS Presentation</dc:subject>
  <dc:creator>AASK Technologies</dc:creator>
  <cp:lastModifiedBy>AASK Technologies</cp:lastModifiedBy>
  <cp:revision>1</cp:revision>
  <dcterms:created xsi:type="dcterms:W3CDTF">2026-05-01T05:10:21Z</dcterms:created>
  <dcterms:modified xsi:type="dcterms:W3CDTF">2026-05-01T05:10:21Z</dcterms:modified>
</cp:coreProperties>
</file>